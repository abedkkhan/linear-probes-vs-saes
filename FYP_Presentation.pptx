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4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edkkhan/Linear-Probes-vs-SA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150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the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Box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Comparing Linear Probes and Sparse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Autoencoders for Understanding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516636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303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use AI everywhere , but we still don’t know how it thinks.”</a:t>
            </a:r>
          </a:p>
          <a:p>
            <a:r>
              <a:rPr lang="en-US" sz="1100" i="1" dirty="0">
                <a:solidFill>
                  <a:srgbClr val="1A1A1A"/>
                </a:solidFill>
                <a:latin typeface="Georgia" pitchFamily="34" charset="0"/>
              </a:rPr>
              <a:t>Github repo: </a:t>
            </a:r>
            <a:r>
              <a:rPr lang="en-US" sz="1100" i="1" dirty="0">
                <a:solidFill>
                  <a:srgbClr val="1A1A1A"/>
                </a:solidFill>
                <a:latin typeface="Georgia" pitchFamily="34" charset="0"/>
                <a:hlinkClick r:id="rId3"/>
              </a:rPr>
              <a:t>https://github.com/abedkkhan/Linear-Probes-vs-SAEs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7040880" y="502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300">
                <a:solidFill>
                  <a:srgbClr val="CC785C"/>
                </a:solidFill>
                <a:latin typeface="Menlo"/>
              </a:rPr>
              <a:t>[  TWO METHODS · ONE COMPARISON  ]</a:t>
            </a:r>
          </a:p>
        </p:txBody>
      </p:sp>
      <p:sp>
        <p:nvSpPr>
          <p:cNvPr id="9" name="Rectangle 8"/>
          <p:cNvSpPr/>
          <p:nvPr/>
        </p:nvSpPr>
        <p:spPr>
          <a:xfrm>
            <a:off x="9368028" y="1107440"/>
            <a:ext cx="9144" cy="4206240"/>
          </a:xfrm>
          <a:prstGeom prst="rect">
            <a:avLst/>
          </a:prstGeom>
          <a:solidFill>
            <a:srgbClr val="D4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9601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Linear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32588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one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1828800"/>
            <a:ext cx="1828800" cy="2011680"/>
          </a:xfrm>
          <a:prstGeom prst="rect">
            <a:avLst/>
          </a:prstGeom>
          <a:solidFill>
            <a:srgbClr val="FAF9F5"/>
          </a:solidFill>
          <a:ln w="9525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19" y="2788920"/>
            <a:ext cx="91440" cy="9144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8092440" y="2103120"/>
            <a:ext cx="731520" cy="731520"/>
          </a:xfrm>
          <a:prstGeom prst="line">
            <a:avLst/>
          </a:prstGeom>
          <a:ln w="31750">
            <a:solidFill>
              <a:srgbClr val="CC785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187451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1">
                <a:solidFill>
                  <a:srgbClr val="CC785C"/>
                </a:solidFill>
                <a:latin typeface="Georgia"/>
              </a:rPr>
              <a:t>sentiment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97764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 spc="100" dirty="0">
                <a:latin typeface="Menlo"/>
              </a:rPr>
              <a:t>finds ONE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5196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 spc="100" dirty="0">
                <a:latin typeface="Menlo"/>
              </a:rPr>
              <a:t>for ONE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96012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Sparse Autoencoder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32588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many directions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828800"/>
            <a:ext cx="1828800" cy="2011680"/>
          </a:xfrm>
          <a:prstGeom prst="rect">
            <a:avLst/>
          </a:prstGeom>
          <a:solidFill>
            <a:srgbClr val="FAF9F5"/>
          </a:solidFill>
          <a:ln w="9525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61319" y="2788920"/>
            <a:ext cx="91440" cy="9144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10607040" y="2568808"/>
            <a:ext cx="730366" cy="265832"/>
          </a:xfrm>
          <a:prstGeom prst="line">
            <a:avLst/>
          </a:prstGeom>
          <a:ln w="31750">
            <a:solidFill>
              <a:srgbClr val="CC785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07040" y="2197962"/>
            <a:ext cx="445806" cy="636678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0539299" y="2060357"/>
            <a:ext cx="67741" cy="774283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0107439" y="2239239"/>
            <a:ext cx="499601" cy="595401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9841608" y="2699673"/>
            <a:ext cx="765432" cy="134967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970362" y="2834640"/>
            <a:ext cx="636678" cy="445806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472073" y="2834640"/>
            <a:ext cx="134967" cy="765431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07040" y="2834640"/>
            <a:ext cx="499600" cy="595400"/>
          </a:xfrm>
          <a:prstGeom prst="line">
            <a:avLst/>
          </a:prstGeom>
          <a:ln w="19050">
            <a:solidFill>
              <a:srgbClr val="C8C2B5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0" y="187451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1">
                <a:solidFill>
                  <a:srgbClr val="CC785C"/>
                </a:solidFill>
                <a:latin typeface="Georgia"/>
              </a:rPr>
              <a:t>sentiment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97764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 spc="100" dirty="0">
                <a:latin typeface="Menlo"/>
              </a:rPr>
              <a:t>finds MANY directions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251960"/>
            <a:ext cx="2331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 spc="100" dirty="0">
                <a:latin typeface="Menlo"/>
              </a:rPr>
              <a:t>for MANY concepts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3949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Georgia"/>
              </a:rPr>
              <a:t>which method better captures the model?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7315200" cy="584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79"/>
            <a:ext cx="7040880" cy="245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Language models like GPT, Gemma, and Claude generate impressive outputs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But we don't understand what's happening inside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Their internal mechanisms remain opaque </a:t>
            </a:r>
            <a:r>
              <a:rPr lang="en-AU" sz="1500" b="0" i="0" dirty="0">
                <a:solidFill>
                  <a:srgbClr val="1A1A1A"/>
                </a:solidFill>
                <a:latin typeface="Georgia"/>
              </a:rPr>
              <a:t>,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a "black box"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Neurons are polysemantic </a:t>
            </a:r>
            <a:r>
              <a:rPr lang="en-AU" sz="15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one neuron fires for multiple unrelated concepts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This makes it impossible to interpret, trust, or control these models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Georgia"/>
              </a:rPr>
              <a:t>—  Two methods exist to </a:t>
            </a:r>
            <a:r>
              <a:rPr lang="en-AU" sz="1500" b="0" i="0" dirty="0">
                <a:solidFill>
                  <a:srgbClr val="1A1A1A"/>
                </a:solidFill>
                <a:latin typeface="Georgia"/>
              </a:rPr>
              <a:t>look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 inside: Linear Probes and Sparse Autoencoders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1" dirty="0">
                <a:solidFill>
                  <a:srgbClr val="CC785C"/>
                </a:solidFill>
                <a:latin typeface="Georgia"/>
              </a:rPr>
              <a:t>—  But which one actually works better?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9144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>
                <a:solidFill>
                  <a:srgbClr val="CC785C"/>
                </a:solidFill>
                <a:latin typeface="Menlo"/>
              </a:rPr>
              <a:t>[ ONE NEURON · MANY MEANINGS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40233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polysemantic activation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8739524" y="3954779"/>
            <a:ext cx="871083" cy="502921"/>
          </a:xfrm>
          <a:prstGeom prst="line">
            <a:avLst/>
          </a:prstGeom>
          <a:ln w="1270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8739524" y="3040379"/>
            <a:ext cx="871083" cy="502920"/>
          </a:xfrm>
          <a:prstGeom prst="line">
            <a:avLst/>
          </a:prstGeom>
          <a:ln w="1270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966960" y="2331720"/>
            <a:ext cx="0" cy="1005839"/>
          </a:xfrm>
          <a:prstGeom prst="line">
            <a:avLst/>
          </a:prstGeom>
          <a:ln w="1270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323312" y="3040379"/>
            <a:ext cx="871083" cy="502920"/>
          </a:xfrm>
          <a:prstGeom prst="line">
            <a:avLst/>
          </a:prstGeom>
          <a:ln w="1270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23312" y="3954779"/>
            <a:ext cx="871083" cy="502921"/>
          </a:xfrm>
          <a:prstGeom prst="line">
            <a:avLst/>
          </a:prstGeom>
          <a:ln w="1270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326880" y="3108959"/>
            <a:ext cx="1280160" cy="1280160"/>
          </a:xfrm>
          <a:prstGeom prst="ellipse">
            <a:avLst/>
          </a:prstGeom>
          <a:solidFill>
            <a:srgbClr val="F5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55480" y="3337559"/>
            <a:ext cx="822960" cy="82296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55480" y="3584447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AF9F5"/>
                </a:solidFill>
                <a:latin typeface="Menlo"/>
              </a:rPr>
              <a:t>neuron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767327"/>
            <a:ext cx="822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1">
                <a:solidFill>
                  <a:srgbClr val="FAF9F5"/>
                </a:solidFill>
                <a:latin typeface="Georgia"/>
              </a:rPr>
              <a:t>fires!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9444" y="4274820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9444" y="42748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 dirty="0">
                <a:solidFill>
                  <a:srgbClr val="1A1A1A"/>
                </a:solidFill>
                <a:latin typeface="Georgia"/>
              </a:rPr>
              <a:t>"Korean text"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9444" y="2857499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9444" y="285749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1A1A1A"/>
                </a:solidFill>
                <a:latin typeface="Georgia"/>
              </a:rPr>
              <a:t>"baseball"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2148839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214883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1A1A1A"/>
                </a:solidFill>
                <a:latin typeface="Georgia"/>
              </a:rPr>
              <a:t>"citations"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54315" y="2857499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54315" y="2857499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1A1A1A"/>
                </a:solidFill>
                <a:latin typeface="Georgia"/>
              </a:rPr>
              <a:t>"HTTP requests"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54315" y="4274820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54315" y="42748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>
                <a:solidFill>
                  <a:srgbClr val="1A1A1A"/>
                </a:solidFill>
                <a:latin typeface="Georgia"/>
              </a:rPr>
              <a:t>"poetry"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760720"/>
            <a:ext cx="40233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same neuron fires for unrelated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1A1A1A"/>
                </a:solidFill>
                <a:latin typeface="Georgia"/>
              </a:rPr>
              <a:t>How Models Represent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96160"/>
            <a:ext cx="6858000" cy="2665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Language models convert text into high-dimensional activation vectors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These vectors pass through many layers, each one transforming the </a:t>
            </a:r>
            <a:r>
              <a:rPr lang="en-AU" sz="1500" b="0" i="0" dirty="0">
                <a:solidFill>
                  <a:srgbClr val="1A1A1A"/>
                </a:solidFill>
                <a:latin typeface="Georgia"/>
              </a:rPr>
              <a:t>     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representation before producing the final output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The </a:t>
            </a:r>
            <a:r>
              <a:rPr sz="1500" b="1" dirty="0">
                <a:solidFill>
                  <a:srgbClr val="CC785C"/>
                </a:solidFill>
                <a:latin typeface="Georgia"/>
              </a:rPr>
              <a:t>Linear Representation Hypothesis</a:t>
            </a:r>
            <a:r>
              <a:rPr sz="1500" dirty="0">
                <a:solidFill>
                  <a:srgbClr val="1A1A1A"/>
                </a:solidFill>
                <a:latin typeface="Georgia"/>
              </a:rPr>
              <a:t>: concepts are encoded as directions in this vector space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1" dirty="0">
                <a:solidFill>
                  <a:srgbClr val="1A1A1A"/>
                </a:solidFill>
                <a:latin typeface="Georgia"/>
              </a:rPr>
              <a:t>A "sentiment direction" — a "gender direction" — a "language direction"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If we can find these directions, we can understand the model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dirty="0">
                <a:solidFill>
                  <a:srgbClr val="CC785C"/>
                </a:solidFill>
                <a:latin typeface="Georgia"/>
              </a:rPr>
              <a:t>—  </a:t>
            </a:r>
            <a:r>
              <a:rPr sz="1500" b="1" i="1" dirty="0">
                <a:solidFill>
                  <a:srgbClr val="CC785C"/>
                </a:solidFill>
                <a:latin typeface="Georgia"/>
              </a:rPr>
              <a:t>The question becomes: how do we find them?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914400"/>
            <a:ext cx="40233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 dirty="0">
                <a:solidFill>
                  <a:srgbClr val="CC785C"/>
                </a:solidFill>
                <a:latin typeface="Menlo"/>
              </a:rPr>
              <a:t>[ GRAPH · CIRCUIT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40233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how features flow across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4937760"/>
            <a:ext cx="5486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Menlo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4114800"/>
            <a:ext cx="5486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Menlo"/>
              </a:rP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3291840"/>
            <a:ext cx="5486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Menlo"/>
              </a:rPr>
              <a:t>layer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468879"/>
            <a:ext cx="5486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Menlo"/>
              </a:rPr>
              <a:t>layer 12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9006840" y="5029200"/>
            <a:ext cx="3200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326880" y="5029200"/>
            <a:ext cx="45720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326880" y="5029200"/>
            <a:ext cx="12344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9006840" y="502920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784080" y="502920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84080" y="502920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9006840" y="5029200"/>
            <a:ext cx="12344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784080" y="5029200"/>
            <a:ext cx="45720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41280" y="5029200"/>
            <a:ext cx="3200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06840" y="420624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06840" y="420624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06840" y="420624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9006840" y="420624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784080" y="420624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784080" y="420624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006840" y="420624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784080" y="420624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561319" y="420624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006840" y="338328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006840" y="338328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06840" y="338328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9006840" y="338328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84080" y="338328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784080" y="338328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9006840" y="338328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784080" y="338328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561319" y="338328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006840" y="256032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006840" y="256032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006840" y="256032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9006840" y="2560320"/>
            <a:ext cx="77724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784080" y="256032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784080" y="256032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9006840" y="2560320"/>
            <a:ext cx="155447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9784080" y="2560320"/>
            <a:ext cx="777239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561319" y="2560320"/>
            <a:ext cx="0" cy="82296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06840" y="1828800"/>
            <a:ext cx="777240" cy="73152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784080" y="1828800"/>
            <a:ext cx="0" cy="73152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9784080" y="1828800"/>
            <a:ext cx="777239" cy="731520"/>
          </a:xfrm>
          <a:prstGeom prst="line">
            <a:avLst/>
          </a:prstGeom>
          <a:ln w="6350">
            <a:solidFill>
              <a:srgbClr val="D4C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784080" y="5029200"/>
            <a:ext cx="0" cy="82296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784080" y="4206240"/>
            <a:ext cx="777239" cy="82296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9784080" y="3383280"/>
            <a:ext cx="777239" cy="82296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784080" y="2560320"/>
            <a:ext cx="0" cy="82296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784080" y="1828800"/>
            <a:ext cx="0" cy="731520"/>
          </a:xfrm>
          <a:prstGeom prst="line">
            <a:avLst/>
          </a:prstGeom>
          <a:ln w="25400">
            <a:solidFill>
              <a:srgbClr val="CC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887967" y="491032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582911" y="4828032"/>
            <a:ext cx="402336" cy="402336"/>
          </a:xfrm>
          <a:prstGeom prst="ellipse">
            <a:avLst/>
          </a:prstGeom>
          <a:solidFill>
            <a:srgbClr val="F5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665207" y="4910328"/>
            <a:ext cx="237744" cy="237744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442447" y="491032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887967" y="408736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665207" y="408736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360151" y="4005072"/>
            <a:ext cx="402336" cy="402336"/>
          </a:xfrm>
          <a:prstGeom prst="ellipse">
            <a:avLst/>
          </a:prstGeom>
          <a:solidFill>
            <a:srgbClr val="F5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442447" y="4087368"/>
            <a:ext cx="237744" cy="237744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887967" y="326440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582911" y="3182112"/>
            <a:ext cx="402336" cy="402336"/>
          </a:xfrm>
          <a:prstGeom prst="ellipse">
            <a:avLst/>
          </a:prstGeom>
          <a:solidFill>
            <a:srgbClr val="F5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65207" y="3264408"/>
            <a:ext cx="237744" cy="237744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442447" y="326440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887967" y="244144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582911" y="2359151"/>
            <a:ext cx="402336" cy="402336"/>
          </a:xfrm>
          <a:prstGeom prst="ellipse">
            <a:avLst/>
          </a:prstGeom>
          <a:solidFill>
            <a:srgbClr val="F5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665207" y="2441448"/>
            <a:ext cx="237744" cy="237744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442447" y="2441448"/>
            <a:ext cx="237744" cy="237744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98280" y="5715000"/>
            <a:ext cx="457200" cy="2743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098280" y="5715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Menlo"/>
              </a:rPr>
              <a:t>the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55480" y="5715000"/>
            <a:ext cx="457200" cy="2743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55480" y="5715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Menlo"/>
              </a:rPr>
              <a:t>movie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12680" y="5715000"/>
            <a:ext cx="457200" cy="2743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012680" y="57150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  <a:latin typeface="Menlo"/>
              </a:rPr>
              <a:t>was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603504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Georgia"/>
              </a:rPr>
              <a:t>input tokens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6880" y="1664208"/>
            <a:ext cx="914400" cy="329184"/>
          </a:xfrm>
          <a:prstGeom prst="rect">
            <a:avLst/>
          </a:prstGeom>
          <a:solidFill>
            <a:srgbClr val="F5DCD3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326880" y="166420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1">
                <a:solidFill>
                  <a:srgbClr val="CC785C"/>
                </a:solidFill>
                <a:latin typeface="Georgia"/>
              </a:rPr>
              <a:t>positive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38160" y="1463040"/>
            <a:ext cx="1828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1" dirty="0">
                <a:latin typeface="Georgia"/>
              </a:rPr>
              <a:t>prediction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55279" y="36576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1">
                <a:solidFill>
                  <a:srgbClr val="CC785C"/>
                </a:solidFill>
                <a:latin typeface="Georgia"/>
              </a:rPr>
              <a:t>sentiment
direction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6263640"/>
            <a:ext cx="40233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 dirty="0">
                <a:latin typeface="Georgia"/>
              </a:rPr>
              <a:t>features at each layer connect to form a circuit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8229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latin typeface="Georgia"/>
              </a:rPr>
              <a:t>Finding internal representations isn't just academic </a:t>
            </a:r>
            <a:r>
              <a:rPr lang="en-AU" sz="1400" i="1" dirty="0">
                <a:latin typeface="Georgia"/>
              </a:rPr>
              <a:t>, </a:t>
            </a:r>
            <a:r>
              <a:rPr sz="1400" b="0" i="1" dirty="0">
                <a:latin typeface="Georgia"/>
              </a:rPr>
              <a:t>it has direct, real-world applications.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AI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Detect deception, harmful content, or unsafe outputs before they reach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60604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60604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Bias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Find and measure racial, gender, or political biases inside model representations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0604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260604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7889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Model Steering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0040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Control model behaviour by amplifying or suppressing specific concept directions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4340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Hallucination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Identify when a model is uncertain or fabricating facts it doesn't actually know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34340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434340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Medical &amp; Legal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3776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Audit high-stakes models for what they actually "know" before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343400"/>
            <a:ext cx="3657600" cy="155448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343400"/>
            <a:ext cx="54864" cy="1554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4526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Georgia"/>
              </a:rPr>
              <a:t>Mechanistic Interpretability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937760"/>
            <a:ext cx="3291840" cy="417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latin typeface="Georgia"/>
              </a:rPr>
              <a:t>Foundation for understanding how AI systems actually think and reason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8229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Linear 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 dirty="0">
                <a:solidFill>
                  <a:srgbClr val="CC785C"/>
                </a:solidFill>
                <a:latin typeface="Georgia"/>
              </a:rPr>
              <a:t>A simple classifier trained on frozen model activations to detect a specific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675120" cy="2282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Take a frozen language model (e.g., Gemma 2 2B)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Run sentences through it </a:t>
            </a:r>
            <a:r>
              <a:rPr lang="en-AU" sz="15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half positive, half negative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500" b="0" i="0" dirty="0">
                <a:solidFill>
                  <a:srgbClr val="1A1A1A"/>
                </a:solidFill>
                <a:latin typeface="Georgia"/>
              </a:rPr>
              <a:t>Grab the activation vector at a chosen layer for each sentence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Train a </a:t>
            </a:r>
            <a:r>
              <a:rPr sz="1500" b="1" dirty="0">
                <a:solidFill>
                  <a:srgbClr val="CC785C"/>
                </a:solidFill>
                <a:latin typeface="Georgia"/>
              </a:rPr>
              <a:t>logistic regression</a:t>
            </a:r>
            <a:r>
              <a:rPr sz="1500" dirty="0">
                <a:solidFill>
                  <a:srgbClr val="1A1A1A"/>
                </a:solidFill>
                <a:latin typeface="Georgia"/>
              </a:rPr>
              <a:t>: predict sentiment from activations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1A1A1A"/>
                </a:solidFill>
                <a:latin typeface="Georgia"/>
              </a:rPr>
              <a:t>—  If it predicts well, sentiment lives at that layer</a:t>
            </a:r>
            <a:r>
              <a:rPr lang="en-AU" sz="15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500" dirty="0">
                <a:solidFill>
                  <a:srgbClr val="1A1A1A"/>
                </a:solidFill>
                <a:latin typeface="Georgia"/>
              </a:rPr>
              <a:t> </a:t>
            </a:r>
            <a:r>
              <a:rPr sz="1500" b="1" dirty="0">
                <a:solidFill>
                  <a:srgbClr val="CC785C"/>
                </a:solidFill>
                <a:latin typeface="Georgia"/>
              </a:rPr>
              <a:t>as a direction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00" dirty="0">
                <a:solidFill>
                  <a:srgbClr val="CC785C"/>
                </a:solidFill>
                <a:latin typeface="Georgia"/>
              </a:rPr>
              <a:t>—  </a:t>
            </a:r>
            <a:r>
              <a:rPr sz="1500" b="1" i="1" dirty="0">
                <a:solidFill>
                  <a:srgbClr val="CC785C"/>
                </a:solidFill>
                <a:latin typeface="Georgia"/>
              </a:rPr>
              <a:t>That direction is the probe's learned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 dirty="0">
                <a:solidFill>
                  <a:srgbClr val="CC785C"/>
                </a:solidFill>
                <a:latin typeface="Menlo"/>
              </a:rPr>
              <a:t>[ WORKFLOW · HOW IT WORKS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8036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 dirty="0">
                <a:latin typeface="Georgia"/>
              </a:rPr>
              <a:t>from text to concept 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383280"/>
            <a:ext cx="25603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33832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Georgia"/>
              </a:rPr>
              <a:t>Frozen LLM (Gemma 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875520" y="3886200"/>
            <a:ext cx="0" cy="274320"/>
          </a:xfrm>
          <a:prstGeom prst="line">
            <a:avLst/>
          </a:prstGeom>
          <a:ln w="1905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95360" y="4160520"/>
            <a:ext cx="25603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41605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Georgia"/>
              </a:rPr>
              <a:t>Extract Activations at Layer 12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20" y="4663440"/>
            <a:ext cx="0" cy="274320"/>
          </a:xfrm>
          <a:prstGeom prst="line">
            <a:avLst/>
          </a:prstGeom>
          <a:ln w="1905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595360" y="4937760"/>
            <a:ext cx="25603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49377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Georgia"/>
              </a:rPr>
              <a:t>Train Logistic Regression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20" y="5440680"/>
            <a:ext cx="0" cy="274320"/>
          </a:xfrm>
          <a:prstGeom prst="line">
            <a:avLst/>
          </a:prstGeom>
          <a:ln w="1905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595360" y="5715000"/>
            <a:ext cx="2560320" cy="502920"/>
          </a:xfrm>
          <a:prstGeom prst="rect">
            <a:avLst/>
          </a:prstGeom>
          <a:solidFill>
            <a:srgbClr val="F5DCD3"/>
          </a:solidFill>
          <a:ln w="1524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95360" y="5715000"/>
            <a:ext cx="54864" cy="5029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571500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CC785C"/>
                </a:solidFill>
                <a:latin typeface="Georgia"/>
              </a:rPr>
              <a:t>Sentiment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0080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the probe's weights become the direction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100584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Sparse Autoencoders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CC785C"/>
                </a:solidFill>
                <a:latin typeface="Georgia"/>
              </a:rPr>
              <a:t>A small network that decomposes activations into thousands of interpretable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6675120" cy="2244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400" dirty="0">
                <a:solidFill>
                  <a:srgbClr val="1A1A1A"/>
                </a:solidFill>
                <a:latin typeface="Georgia"/>
              </a:rPr>
              <a:t>—  </a:t>
            </a:r>
            <a:r>
              <a:rPr lang="en-AU" sz="1400" b="0" i="0" dirty="0">
                <a:solidFill>
                  <a:srgbClr val="1A1A1A"/>
                </a:solidFill>
                <a:latin typeface="Georgia"/>
              </a:rPr>
              <a:t>Inside the model, many concepts are stuffed into the same neurons</a:t>
            </a:r>
            <a:endParaRPr sz="1400" b="0" i="0" dirty="0">
              <a:solidFill>
                <a:srgbClr val="1A1A1A"/>
              </a:solidFill>
              <a:latin typeface="Georgia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  <a:latin typeface="Georgia"/>
              </a:rPr>
              <a:t>—  An SAE takes one activation vector and </a:t>
            </a:r>
            <a:r>
              <a:rPr sz="1400" b="1" dirty="0">
                <a:solidFill>
                  <a:srgbClr val="CC785C"/>
                </a:solidFill>
                <a:latin typeface="Georgia"/>
              </a:rPr>
              <a:t>expands it</a:t>
            </a:r>
            <a:r>
              <a:rPr sz="1400" dirty="0">
                <a:solidFill>
                  <a:srgbClr val="1A1A1A"/>
                </a:solidFill>
                <a:latin typeface="Georgia"/>
              </a:rPr>
              <a:t> into thousands of features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  <a:latin typeface="Georgia"/>
              </a:rPr>
              <a:t>—  Most of those features stay silent</a:t>
            </a:r>
            <a:r>
              <a:rPr lang="en-AU" sz="14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400" dirty="0">
                <a:solidFill>
                  <a:srgbClr val="1A1A1A"/>
                </a:solidFill>
                <a:latin typeface="Georgia"/>
              </a:rPr>
              <a:t> </a:t>
            </a:r>
            <a:r>
              <a:rPr sz="1400" b="1" dirty="0">
                <a:solidFill>
                  <a:srgbClr val="CC785C"/>
                </a:solidFill>
                <a:latin typeface="Georgia"/>
              </a:rPr>
              <a:t>only a few fire</a:t>
            </a:r>
            <a:r>
              <a:rPr sz="1400" dirty="0">
                <a:solidFill>
                  <a:srgbClr val="1A1A1A"/>
                </a:solidFill>
                <a:latin typeface="Georgia"/>
              </a:rPr>
              <a:t> at a time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400" b="0" i="0" dirty="0">
                <a:solidFill>
                  <a:srgbClr val="1A1A1A"/>
                </a:solidFill>
                <a:latin typeface="Georgia"/>
              </a:rPr>
              <a:t>The SAE reconstructs the original activation from those few features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solidFill>
                  <a:srgbClr val="1A1A1A"/>
                </a:solidFill>
                <a:latin typeface="Georgia"/>
              </a:rPr>
              <a:t>—  Each feature ends up representing </a:t>
            </a:r>
            <a:r>
              <a:rPr sz="1400" b="1" dirty="0">
                <a:solidFill>
                  <a:srgbClr val="CC785C"/>
                </a:solidFill>
                <a:latin typeface="Georgia"/>
              </a:rPr>
              <a:t>one clean concept</a:t>
            </a:r>
            <a:r>
              <a:rPr lang="en-AU" sz="1400" b="1" dirty="0">
                <a:solidFill>
                  <a:srgbClr val="1A1A1A"/>
                </a:solidFill>
                <a:latin typeface="Georgia"/>
              </a:rPr>
              <a:t>, </a:t>
            </a:r>
            <a:r>
              <a:rPr sz="1400" dirty="0">
                <a:solidFill>
                  <a:srgbClr val="1A1A1A"/>
                </a:solidFill>
                <a:latin typeface="Georgia"/>
              </a:rPr>
              <a:t> sentiment, gender, syntax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dirty="0">
                <a:latin typeface="Georgia"/>
              </a:rPr>
              <a:t>—  </a:t>
            </a:r>
            <a:r>
              <a:rPr sz="1400" b="0" i="1" dirty="0">
                <a:latin typeface="Georgia"/>
              </a:rPr>
              <a:t>We use Gemma Scope</a:t>
            </a:r>
            <a:r>
              <a:rPr lang="en-AU" sz="1400" b="0" i="1" dirty="0">
                <a:latin typeface="Georgia"/>
              </a:rPr>
              <a:t>, </a:t>
            </a:r>
            <a:r>
              <a:rPr sz="1400" b="0" i="1" dirty="0">
                <a:latin typeface="Georgia"/>
              </a:rPr>
              <a:t> pretrained SAEs by DeepMind (Lieberum et al.,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60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>
                <a:solidFill>
                  <a:srgbClr val="CC785C"/>
                </a:solidFill>
                <a:latin typeface="Menlo"/>
              </a:rPr>
              <a:t>[ SAE · EXPAND THEN RECONSTRUCT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80360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1" dirty="0">
                <a:latin typeface="Georgia"/>
              </a:rPr>
              <a:t>encoder expands · decoder rebuilds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3246120"/>
            <a:ext cx="1280160" cy="36576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32461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Georgia"/>
              </a:rPr>
              <a:t>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630168"/>
            <a:ext cx="1828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(2,304 dims · mixed)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950207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>
                <a:solidFill>
                  <a:srgbClr val="CC785C"/>
                </a:solidFill>
                <a:latin typeface="Menlo"/>
              </a:rPr>
              <a:t>ENCODER  ↓  expands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4270247"/>
            <a:ext cx="3291840" cy="54864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07323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2395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97467" y="4485131"/>
            <a:ext cx="118872" cy="11887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892540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87612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82683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77755" y="4485131"/>
            <a:ext cx="118872" cy="11887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72828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67900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62972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58043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53116" y="4485131"/>
            <a:ext cx="118872" cy="11887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48188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843260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038331" y="4485131"/>
            <a:ext cx="118872" cy="118872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233403" y="4485131"/>
            <a:ext cx="118872" cy="118872"/>
          </a:xfrm>
          <a:prstGeom prst="ellipse">
            <a:avLst/>
          </a:prstGeom>
          <a:solidFill>
            <a:srgbClr val="C8C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20" y="4837175"/>
            <a:ext cx="40233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16,384 sparse features · only a few 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138927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 spc="200">
                <a:solidFill>
                  <a:srgbClr val="CC785C"/>
                </a:solidFill>
                <a:latin typeface="Menlo"/>
              </a:rPr>
              <a:t>DECODER  ↓  rebuilds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5458967"/>
            <a:ext cx="1280160" cy="365760"/>
          </a:xfrm>
          <a:prstGeom prst="rect">
            <a:avLst/>
          </a:prstGeom>
          <a:solidFill>
            <a:srgbClr val="F5DCD3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5458967"/>
            <a:ext cx="54864" cy="36576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60" y="5458967"/>
            <a:ext cx="118871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CC785C"/>
                </a:solidFill>
                <a:latin typeface="Georgia"/>
              </a:rPr>
              <a:t>reconstructed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843015"/>
            <a:ext cx="18288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(same dim · cleaner)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144767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 dirty="0">
                <a:latin typeface="Georgia"/>
              </a:rPr>
              <a:t>active features = interpretable concepts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8229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Concepts live as directions in activation space.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Park et al. (2024) </a:t>
            </a:r>
            <a:r>
              <a:rPr sz="1300" dirty="0" err="1">
                <a:latin typeface="Georgia"/>
              </a:rPr>
              <a:t>formalised</a:t>
            </a:r>
            <a:r>
              <a:rPr sz="1300" dirty="0">
                <a:latin typeface="Georgia"/>
              </a:rPr>
              <a:t> the Linear Representation Hypothesis., and </a:t>
            </a:r>
            <a:r>
              <a:rPr sz="1300" dirty="0" err="1">
                <a:latin typeface="Georgia"/>
              </a:rPr>
              <a:t>Tomihari</a:t>
            </a:r>
            <a:r>
              <a:rPr sz="1300" dirty="0">
                <a:latin typeface="Georgia"/>
              </a:rPr>
              <a:t> &amp; Sato (2024) deepened the theory through LP-FT dynamics.</a:t>
            </a:r>
            <a:r>
              <a:rPr lang="en-AU" sz="1300" dirty="0">
                <a:latin typeface="Georgia"/>
              </a:rPr>
              <a:t> Alain &amp; Bengio (2017) showed linear probes could extract these directions</a:t>
            </a:r>
            <a:endParaRPr sz="1300" dirty="0">
              <a:latin typeface="Georgia"/>
            </a:endParaRP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Together, these papers establish the geometric view of how models represent meaning.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Sparse autoencoders scale interpretability.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Cunningham et al. (2023) showed SAEs can disentangle features hidden in superposition. </a:t>
            </a:r>
            <a:r>
              <a:rPr sz="1300" dirty="0" err="1">
                <a:latin typeface="Georgia"/>
              </a:rPr>
              <a:t>Rajamanoharan</a:t>
            </a:r>
            <a:r>
              <a:rPr sz="1300" dirty="0">
                <a:latin typeface="Georgia"/>
              </a:rPr>
              <a:t> et al. (2024) refined the architecture with Gated SAEs. Lieberum et al. (2024) released Gemma Scope </a:t>
            </a:r>
            <a:r>
              <a:rPr lang="en-AU" sz="1300" dirty="0">
                <a:latin typeface="Georgia"/>
              </a:rPr>
              <a:t>, </a:t>
            </a:r>
            <a:r>
              <a:rPr sz="1300" dirty="0">
                <a:latin typeface="Georgia"/>
              </a:rPr>
              <a:t>the pretrained SAEs this project uses.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This line of work pushed interpretability from one direction at a time to thousands.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But SAEs may not deliver on their promise.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Smith et al. (2025) found SAEs underperformed linear probes on downstream tasks — raising a critical question that this project sets out to answer empirically.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If the simpler tool wins, the field's investment in SAEs may need rethinking.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8229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What's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The two methods have never been directly compared.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Linear probes and SAEs are studied separately </a:t>
            </a:r>
            <a:r>
              <a:rPr lang="en-AU" sz="1300" dirty="0">
                <a:latin typeface="Georgia"/>
              </a:rPr>
              <a:t>, </a:t>
            </a:r>
            <a:r>
              <a:rPr sz="1300" dirty="0">
                <a:latin typeface="Georgia"/>
              </a:rPr>
              <a:t>papers introduce each method on different models, layers, and tasks. There is no clean head-to-head comparison.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Without a controlled comparison, we can't say which method truly captures more.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We don't know if SAEs and probes find the same directions.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Both claim to extract concept directions, but no study has measured whether the directions agree geometrically</a:t>
            </a:r>
            <a:r>
              <a:rPr lang="en-AU" sz="1300" dirty="0">
                <a:latin typeface="Georgia"/>
              </a:rPr>
              <a:t>, </a:t>
            </a:r>
            <a:r>
              <a:rPr sz="1300" dirty="0">
                <a:latin typeface="Georgia"/>
              </a:rPr>
              <a:t>or whether each method captures something the other misses.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Geometric alignment between methods would tell us whether they see the same model.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Georgia"/>
              </a:rPr>
              <a:t>It's unclear if these methods are domain-specific.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dirty="0">
                <a:latin typeface="Georgia"/>
              </a:rPr>
              <a:t>Smith et al. (2025) tested SAEs on one task. We don't know whether linear probes excel for some kinds of concepts (like sentiment) while SAEs work better for others.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00" i="1" dirty="0">
                <a:solidFill>
                  <a:srgbClr val="CC785C"/>
                </a:solidFill>
                <a:latin typeface="Georgia"/>
              </a:rPr>
              <a:t>This project tests both</a:t>
            </a:r>
            <a:r>
              <a:rPr lang="en-AU" sz="1200" i="1" dirty="0">
                <a:solidFill>
                  <a:srgbClr val="CC785C"/>
                </a:solidFill>
                <a:latin typeface="Georgia"/>
              </a:rPr>
              <a:t> </a:t>
            </a:r>
            <a:r>
              <a:rPr sz="1200" i="1" dirty="0">
                <a:solidFill>
                  <a:srgbClr val="CC785C"/>
                </a:solidFill>
                <a:latin typeface="Georgia"/>
              </a:rPr>
              <a:t>on sentiment to begin answering that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Georgia"/>
              </a:rPr>
              <a:t>What We're 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9572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Do linear probes and SAEs find sentiment as a linear direction at the same layer?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RQ2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6148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Which method achieves higher classification accuracy on held-out test data?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RQ3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27248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Do the directions found by each method align geometrically?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RQ4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46979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  <a:latin typeface="Georgia"/>
              </a:rPr>
              <a:t>Are these methods domain-specific</a:t>
            </a:r>
            <a:r>
              <a:rPr lang="en-AU" sz="1200" b="0" i="0" dirty="0">
                <a:solidFill>
                  <a:srgbClr val="1A1A1A"/>
                </a:solidFill>
                <a:latin typeface="Georgia"/>
              </a:rPr>
              <a:t>, </a:t>
            </a:r>
            <a:r>
              <a:rPr sz="1200" b="0" i="0" dirty="0">
                <a:solidFill>
                  <a:srgbClr val="1A1A1A"/>
                </a:solidFill>
                <a:latin typeface="Georgia"/>
              </a:rPr>
              <a:t> does one work better for sentiment than the other?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Research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6285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O1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6285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Advance empirical understanding of how language models represent meaning internally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2861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2861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  <a:latin typeface="Georgia"/>
              </a:rPr>
              <a:t>Contribute to AI safety by validating the tools we use to inspect model behaviour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9437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9437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Inform the choice between linear probes and SAEs for future interpretability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013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CC785C"/>
                </a:solidFill>
                <a:latin typeface="Menlo"/>
              </a:rPr>
              <a:t>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60136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Georgia"/>
              </a:rPr>
              <a:t>Lay groundwork for domain-specific analysis of how different concepts are encoded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3796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What We Predict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Hypotheses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95728"/>
            <a:ext cx="10972800" cy="9601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395728"/>
            <a:ext cx="54864" cy="960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H0  ·  NULL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6148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1A1A1A"/>
                </a:solidFill>
                <a:latin typeface="Georgia"/>
              </a:rPr>
              <a:t>Linear probes and sparse autoencoders show no meaningful difference in their ability to capture sentiment representations in Gemma 2 2B.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93008"/>
            <a:ext cx="10972800" cy="96012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493008"/>
            <a:ext cx="54864" cy="96012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584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H1  ·  ALTERNATE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587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1A1A1A"/>
                </a:solidFill>
                <a:latin typeface="Georgia"/>
              </a:rPr>
              <a:t>Linear probes will outperform SAEs for sentiment classification accuracy, while finding overlapping but distinct sentiment directions.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2744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Variables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111496"/>
            <a:ext cx="5394960" cy="1371600"/>
          </a:xfrm>
          <a:prstGeom prst="rect">
            <a:avLst/>
          </a:prstGeom>
          <a:solidFill>
            <a:srgbClr val="FAF9F5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5111496"/>
            <a:ext cx="54864" cy="137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1846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spc="300">
                <a:solidFill>
                  <a:srgbClr val="CC785C"/>
                </a:solidFill>
                <a:latin typeface="Menlo"/>
              </a:rPr>
              <a:t>INDEPENDENT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85816"/>
            <a:ext cx="5029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 dirty="0">
                <a:latin typeface="Georgia"/>
              </a:rPr>
              <a:t>what we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78424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Method (Linear Probe vs SAE)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Model layer (Layer 12, residual stream)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Input data (SST-2 sentiment samples)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5111496"/>
            <a:ext cx="5394960" cy="1371600"/>
          </a:xfrm>
          <a:prstGeom prst="rect">
            <a:avLst/>
          </a:prstGeom>
          <a:solidFill>
            <a:srgbClr val="FAF9F5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5111496"/>
            <a:ext cx="54864" cy="137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51846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spc="300">
                <a:solidFill>
                  <a:srgbClr val="CC785C"/>
                </a:solidFill>
                <a:latin typeface="Menlo"/>
              </a:rPr>
              <a:t>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385816"/>
            <a:ext cx="5029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 dirty="0">
                <a:latin typeface="Georgia"/>
              </a:rPr>
              <a:t>what we 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678424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Classification accuracy &amp; F1 score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Cosine similarity between found directions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Interpretability of extracted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dirty="0">
                <a:solidFill>
                  <a:srgbClr val="1A1A1A"/>
                </a:solidFill>
                <a:latin typeface="Georgia"/>
              </a:rPr>
              <a:t>Methodology — The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5394960" cy="251460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" cy="2514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Gemma 2 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7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2 billion parameters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26 transformer layers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Residual stream dimension: 2,304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Hugging Face: google/gemma-2-2b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Frozen during all experiments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Compatible with pretrained Gemma Scope SAEs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251460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" cy="2514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871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SST-2 — Sentiment Treebank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52927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Stanford Sentiment Treebank (SST-2)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Binary sentiment task: positive vs negative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Movie review sentences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67,349 training samples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872 validation · 1,821 test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Hugging Face: </a:t>
            </a:r>
            <a:r>
              <a:rPr sz="1100" dirty="0" err="1">
                <a:solidFill>
                  <a:srgbClr val="1A1A1A"/>
                </a:solidFill>
                <a:latin typeface="Georgia"/>
              </a:rPr>
              <a:t>stanfordnlp</a:t>
            </a:r>
            <a:r>
              <a:rPr sz="1100" dirty="0">
                <a:solidFill>
                  <a:srgbClr val="1A1A1A"/>
                </a:solidFill>
                <a:latin typeface="Georgia"/>
              </a:rPr>
              <a:t>/sst2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 dirty="0">
                <a:solidFill>
                  <a:srgbClr val="CC785C"/>
                </a:solidFill>
                <a:latin typeface="Georgia"/>
              </a:rPr>
              <a:t>We chose Gemma 2 2B because DeepMind released pretrained SAEs for it</a:t>
            </a:r>
            <a:r>
              <a:rPr lang="en-AU" sz="1200" b="0" i="1" dirty="0">
                <a:solidFill>
                  <a:srgbClr val="CC785C"/>
                </a:solidFill>
                <a:latin typeface="Georgia"/>
              </a:rPr>
              <a:t>, </a:t>
            </a:r>
            <a:r>
              <a:rPr sz="1200" b="0" i="1" dirty="0">
                <a:solidFill>
                  <a:srgbClr val="CC785C"/>
                </a:solidFill>
                <a:latin typeface="Georgia"/>
              </a:rPr>
              <a:t> no SAE training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CC785C"/>
                </a:solidFill>
                <a:latin typeface="Georgia"/>
              </a:rPr>
              <a:t>We chose SST-2 because sentiment is well-defined, small enough to iterate quickly, and widely benchmarked.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Georgia"/>
              </a:rPr>
              <a:t>Methodology — How We 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566160" cy="251460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03119"/>
            <a:ext cx="45719" cy="2514599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Layer 12 · Residual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7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Layer 12 (mid-depth)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Residual stream output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2,304-dimensional vector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Mid-layers encode semantic concepts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Mean pooling across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566160" cy="251460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103120"/>
            <a:ext cx="54864" cy="2514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Linear Probe &amp; SAE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52927"/>
            <a:ext cx="3200400" cy="1377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Linear Probe </a:t>
            </a:r>
            <a:r>
              <a:rPr lang="en-AU" sz="11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100" dirty="0">
                <a:solidFill>
                  <a:srgbClr val="1A1A1A"/>
                </a:solidFill>
                <a:latin typeface="Georgia"/>
              </a:rPr>
              <a:t>logistic regression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L2 regularization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scikit-learn implementation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SAE </a:t>
            </a:r>
            <a:r>
              <a:rPr lang="en-AU" sz="1100" dirty="0">
                <a:solidFill>
                  <a:srgbClr val="1A1A1A"/>
                </a:solidFill>
                <a:latin typeface="Georgia"/>
              </a:rPr>
              <a:t>, </a:t>
            </a:r>
            <a:r>
              <a:rPr sz="1100" dirty="0">
                <a:solidFill>
                  <a:srgbClr val="1A1A1A"/>
                </a:solidFill>
                <a:latin typeface="Georgia"/>
              </a:rPr>
              <a:t> Gemma Scope 16K features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</a:t>
            </a:r>
            <a:r>
              <a:rPr sz="1100" dirty="0" err="1">
                <a:solidFill>
                  <a:srgbClr val="1A1A1A"/>
                </a:solidFill>
                <a:latin typeface="Georgia"/>
              </a:rPr>
              <a:t>JumpReLU</a:t>
            </a:r>
            <a:r>
              <a:rPr sz="1100" dirty="0">
                <a:solidFill>
                  <a:srgbClr val="1A1A1A"/>
                </a:solidFill>
                <a:latin typeface="Georgia"/>
              </a:rPr>
              <a:t> architecture (pretrained)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1A1A1A"/>
                </a:solidFill>
                <a:latin typeface="Georgia"/>
              </a:rPr>
              <a:t>—  Loaded via SAELens library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566160" cy="2514600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103120"/>
            <a:ext cx="54864" cy="2514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22128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spc="300">
                <a:solidFill>
                  <a:srgbClr val="CC785C"/>
                </a:solidFill>
                <a:latin typeface="Menlo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8716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How We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52927"/>
            <a:ext cx="3200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Accuracy (overall correctness)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F1 score (balanced precision/recall)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AUC-ROC (probabilistic confidence)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Cosine similarity between directions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Top SAE features for sentiment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1A1A1A"/>
                </a:solidFill>
                <a:latin typeface="Georgia"/>
              </a:rPr>
              <a:t>—  Qualitative interpretability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 dirty="0">
                <a:solidFill>
                  <a:srgbClr val="CC785C"/>
                </a:solidFill>
                <a:latin typeface="Georgia"/>
              </a:rPr>
              <a:t>Same model. Same layer. Same data. Different methods </a:t>
            </a:r>
            <a:r>
              <a:rPr lang="en-AU" sz="1300" i="1" dirty="0">
                <a:solidFill>
                  <a:srgbClr val="CC785C"/>
                </a:solidFill>
                <a:latin typeface="Georgia"/>
              </a:rPr>
              <a:t>, </a:t>
            </a:r>
            <a:r>
              <a:rPr sz="1300" b="0" i="1" dirty="0">
                <a:solidFill>
                  <a:srgbClr val="CC785C"/>
                </a:solidFill>
                <a:latin typeface="Georgia"/>
              </a:rPr>
              <a:t>a controlled, head-to-head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3796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686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A1A1A"/>
                </a:solidFill>
                <a:latin typeface="Georgia"/>
              </a:rP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 dirty="0">
                <a:latin typeface="Georgia"/>
              </a:rPr>
              <a:t>What happens to a single sentence </a:t>
            </a:r>
            <a:r>
              <a:rPr lang="en-AU" sz="1300" b="0" i="1" dirty="0">
                <a:latin typeface="Georgia"/>
              </a:rPr>
              <a:t>, </a:t>
            </a:r>
            <a:r>
              <a:rPr sz="1300" b="0" i="1" dirty="0">
                <a:latin typeface="Georgia"/>
              </a:rPr>
              <a:t> from input to comparison.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31720"/>
            <a:ext cx="411480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2331720"/>
            <a:ext cx="54864" cy="384048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2331720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1">
                <a:solidFill>
                  <a:srgbClr val="FAF9F5"/>
                </a:solidFill>
                <a:latin typeface="Georgia"/>
              </a:rPr>
              <a:t>"the movie was great"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54494"/>
            <a:ext cx="13716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 dirty="0">
                <a:latin typeface="Menlo"/>
              </a:rPr>
              <a:t>input sentence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724911"/>
            <a:ext cx="0" cy="109729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43400" y="2843784"/>
            <a:ext cx="4114800" cy="384048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843784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Georgia"/>
              </a:rPr>
              <a:t>Tokenize  →  Gemma 2 2B (frozen)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3236975"/>
            <a:ext cx="0" cy="109729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43400" y="3355848"/>
            <a:ext cx="4114800" cy="384048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335584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Georgia"/>
              </a:rPr>
              <a:t>Extract activations @ Layer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478622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 dirty="0">
                <a:latin typeface="Menlo"/>
              </a:rPr>
              <a:t>(N × 2,304 vectors)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3749039"/>
            <a:ext cx="0" cy="109729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3749039"/>
            <a:ext cx="0" cy="82296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40480" y="3840479"/>
            <a:ext cx="5120640" cy="18288"/>
          </a:xfrm>
          <a:prstGeom prst="rect">
            <a:avLst/>
          </a:prstGeom>
          <a:solidFill>
            <a:srgbClr val="D4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3840480" y="3858768"/>
            <a:ext cx="0" cy="128015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61120" y="3858768"/>
            <a:ext cx="0" cy="128015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06040" y="4032503"/>
            <a:ext cx="2468880" cy="347472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6040" y="403250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Georgia"/>
              </a:rPr>
              <a:t>Mean pool across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379975"/>
            <a:ext cx="246888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(1 × 2,304)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40480" y="4544567"/>
            <a:ext cx="0" cy="128016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606040" y="4672583"/>
            <a:ext cx="2468880" cy="457200"/>
          </a:xfrm>
          <a:prstGeom prst="rect">
            <a:avLst/>
          </a:prstGeom>
          <a:solidFill>
            <a:srgbClr val="F5DCD3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06040" y="4672583"/>
            <a:ext cx="54864" cy="457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469087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C785C"/>
                </a:solidFill>
                <a:latin typeface="Georgia"/>
              </a:rPr>
              <a:t>Linear 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919471"/>
            <a:ext cx="23774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1" dirty="0">
                <a:latin typeface="Georgia"/>
              </a:rPr>
              <a:t>logistic regression → direction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80" y="4032503"/>
            <a:ext cx="2468880" cy="347472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80" y="4032503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Georgia"/>
              </a:rPr>
              <a:t>Per-token activations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4379975"/>
            <a:ext cx="246888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(N × 2,304)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61120" y="4544567"/>
            <a:ext cx="0" cy="128016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726680" y="4672583"/>
            <a:ext cx="2468880" cy="457200"/>
          </a:xfrm>
          <a:prstGeom prst="rect">
            <a:avLst/>
          </a:prstGeom>
          <a:solidFill>
            <a:srgbClr val="F5DCD3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26680" y="4672583"/>
            <a:ext cx="54864" cy="457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469087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CC785C"/>
                </a:solidFill>
                <a:latin typeface="Georgia"/>
              </a:rPr>
              <a:t>Gemma Scope SAE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4919471"/>
            <a:ext cx="23774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1" dirty="0">
                <a:latin typeface="Georgia"/>
              </a:rPr>
              <a:t>sparse features per token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80" y="5294375"/>
            <a:ext cx="2468880" cy="347472"/>
          </a:xfrm>
          <a:prstGeom prst="rect">
            <a:avLst/>
          </a:prstGeom>
          <a:solidFill>
            <a:srgbClr val="F0EDE6"/>
          </a:solidFill>
          <a:ln w="6350">
            <a:solidFill>
              <a:srgbClr val="D4C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26680" y="5294375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Georgia"/>
              </a:rPr>
              <a:t>Mean pool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5641847"/>
            <a:ext cx="246888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 dirty="0">
                <a:latin typeface="Menlo"/>
              </a:rPr>
              <a:t>(1 × 16,384)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0" y="5148071"/>
            <a:ext cx="0" cy="128017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840480" y="5148071"/>
            <a:ext cx="0" cy="731521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961120" y="5806439"/>
            <a:ext cx="0" cy="73153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40480" y="5870447"/>
            <a:ext cx="5120640" cy="18288"/>
          </a:xfrm>
          <a:prstGeom prst="rect">
            <a:avLst/>
          </a:prstGeom>
          <a:solidFill>
            <a:srgbClr val="D4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6400800" y="5888736"/>
            <a:ext cx="0" cy="100583"/>
          </a:xfrm>
          <a:prstGeom prst="line">
            <a:avLst/>
          </a:prstGeom>
          <a:ln w="15240">
            <a:solidFill>
              <a:srgbClr val="D4CFC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886200" y="6025895"/>
            <a:ext cx="5029200" cy="4114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886200" y="6025895"/>
            <a:ext cx="54864" cy="41148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69080" y="6025895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FAF9F5"/>
                </a:solidFill>
                <a:latin typeface="Georgia"/>
              </a:rPr>
              <a:t>Compare  ·  accuracy · F1 · cosine similarity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537960"/>
            <a:ext cx="5486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spc="200" dirty="0">
                <a:latin typeface="Menlo"/>
              </a:rPr>
              <a:t>Aabid Karim   ·   ID 30468176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LINEAR PROBE  ·  15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Probe —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822960" cy="27432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train 100%   ·   val 91.4%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3938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2538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2538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balanced precision &amp; recall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92024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7797" y="192024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6397" y="199339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56397" y="257860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AUC-ROC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8892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ranking quality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../results/plots/confusion_t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33756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Confusion matrix (test set, n = 500)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../results/plots/roc_curve_te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9658" y="333756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ROC curve — AUC = 0.973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9184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../results/plots/score_distribution_tes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517" y="333756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864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Probe scores cleanly separate positives &amp; negatives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5216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41248" y="582472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is linearly separable at layer 12 , the probe finds a single direction that classifies unseen sentences at 92%.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SAE Finding the Sentiment Feature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16,384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FEATURES SEARCHED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every SAE feature scored vs labels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#14733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 FEATURE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fires on negative sentiment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CORRELATION (TRAIN)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highest |r| of any feature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../results/plots/all_feature_correlations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Distribution of correlations across all 16,384 features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../results/plots/sae_feature_correl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Top-20 features by |correlation| — #14733 leads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../results/plots/feature_14733_distributi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 14733 fires on negative test sentences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16,384 unsupervised features, one — #14733 , emerges as a sentiment detector, discovered with no labels.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SAE — Classifier Performance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77.4%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 · 1 FEATURE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#14733 alone, val-tuned cutoff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 · TOP-100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on top-100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AUC · TOP-100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near-perfect ranking from few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../results/plots/sae_single_confu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Single-feature confusion matrix (test set, n = 500)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../results/plots/sae_topk_onl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 accuracy grows as more SAE features are used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../results/plots/sae_f1_auc_only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and AUC across K — same shape as accuracy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SAE feature reaches 77%,  adding a small cluster lifts it to ~90%. Sentiment is spread across a handful of features, not one.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HEAD-TO-HEAD  ·  18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vs SAE — Head-to-Head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LINEAR PROBE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supervised direction across 2,304 dims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SAE · TOP-100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unsupervised features, no labels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−2.2 pp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GAP · PROBE vs SAE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wins by a narrow margin on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../results/plots/accuracy_comparison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Accuracy side-by-side across configurations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../results/plots/sae_topk_vs_prob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SAE accuracy curve approaches the probe baseline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../results/plots/f1_auc_comparis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and AUC — same gap, same shape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probe wins on accuracy by ~2 pp; the SAE wins on interpretability,  each feature can be named, ranked, and inspected.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144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Georgia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48640" cy="36576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Alain, G., &amp; Bengio, Y. (2017). </a:t>
            </a:r>
            <a:r>
              <a:rPr sz="1300" i="1">
                <a:solidFill>
                  <a:srgbClr val="1A1A1A"/>
                </a:solidFill>
                <a:latin typeface="Georgia"/>
              </a:rPr>
              <a:t>Understanding intermediate layers using linear classifier probes. </a:t>
            </a:r>
            <a:r>
              <a:rPr sz="1300">
                <a:solidFill>
                  <a:srgbClr val="6B6B6B"/>
                </a:solidFill>
                <a:latin typeface="Georgia"/>
              </a:rPr>
              <a:t>arXiv preprint arXiv:1610.01644.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Cunningham, H., Ewart, A., Riggs, L., Huben, R., &amp; Sharkey, L. (2023). </a:t>
            </a:r>
            <a:r>
              <a:rPr sz="1300" i="1">
                <a:solidFill>
                  <a:srgbClr val="1A1A1A"/>
                </a:solidFill>
                <a:latin typeface="Georgia"/>
              </a:rPr>
              <a:t>Sparse autoencoders find highly interpretable features in language models. </a:t>
            </a:r>
            <a:r>
              <a:rPr sz="1300">
                <a:solidFill>
                  <a:srgbClr val="6B6B6B"/>
                </a:solidFill>
                <a:latin typeface="Georgia"/>
              </a:rPr>
              <a:t>arXiv preprint arXiv:2309.08600.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Lieberum, T., Rajamanoharan, S., Conmy, A., Smith, L., Sonnerat, N., Varma, V., Kramár, J., Dragan, A., Shah, R., &amp; Nanda, N. (2024). </a:t>
            </a:r>
            <a:r>
              <a:rPr sz="1300" i="1">
                <a:solidFill>
                  <a:srgbClr val="1A1A1A"/>
                </a:solidFill>
                <a:latin typeface="Georgia"/>
              </a:rPr>
              <a:t>Gemma Scope: Open sparse autoencoders everywhere all at once on Gemma 2. </a:t>
            </a:r>
            <a:r>
              <a:rPr sz="1300">
                <a:solidFill>
                  <a:srgbClr val="6B6B6B"/>
                </a:solidFill>
                <a:latin typeface="Georgia"/>
              </a:rPr>
              <a:t>arXiv preprint arXiv:2408.05147.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Park, K., Choe, Y. J., &amp; Veitch, V. (2024). </a:t>
            </a:r>
            <a:r>
              <a:rPr sz="1300" i="1">
                <a:solidFill>
                  <a:srgbClr val="1A1A1A"/>
                </a:solidFill>
                <a:latin typeface="Georgia"/>
              </a:rPr>
              <a:t>The linear representation hypothesis and the geometry of large language models. </a:t>
            </a:r>
            <a:r>
              <a:rPr sz="1300">
                <a:solidFill>
                  <a:srgbClr val="6B6B6B"/>
                </a:solidFill>
                <a:latin typeface="Georgia"/>
              </a:rPr>
              <a:t>Proceedings of the 41st International Conference on Machine Learning.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Rajamanoharan, S., Conmy, A., Smith, L., Lieberum, T., Varma, V., Kramár, J., Shah, R., &amp; Nanda, N. (2024). </a:t>
            </a:r>
            <a:r>
              <a:rPr sz="1300" i="1">
                <a:solidFill>
                  <a:srgbClr val="1A1A1A"/>
                </a:solidFill>
                <a:latin typeface="Georgia"/>
              </a:rPr>
              <a:t>Improving dictionary learning with gated sparse autoencoders. </a:t>
            </a:r>
            <a:r>
              <a:rPr sz="1300">
                <a:solidFill>
                  <a:srgbClr val="6B6B6B"/>
                </a:solidFill>
                <a:latin typeface="Georgia"/>
              </a:rPr>
              <a:t>arXiv preprint arXiv:2404.16014.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Georgia"/>
              </a:rPr>
              <a:t>Tomihari, A., &amp; Sato, I. (2024). </a:t>
            </a:r>
            <a:r>
              <a:rPr sz="1300" i="1">
                <a:solidFill>
                  <a:srgbClr val="1A1A1A"/>
                </a:solidFill>
                <a:latin typeface="Georgia"/>
              </a:rPr>
              <a:t>Understanding linear probing then fine-tuning language models from NTK perspective. </a:t>
            </a:r>
            <a:r>
              <a:rPr sz="1300">
                <a:solidFill>
                  <a:srgbClr val="6B6B6B"/>
                </a:solidFill>
                <a:latin typeface="Georgia"/>
              </a:rPr>
              <a:t>Advances in Neural Information Processing Systems, 38.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2274</Words>
  <Application>Microsoft Macintosh PowerPoint</Application>
  <PresentationFormat>Widescreen</PresentationFormat>
  <Paragraphs>312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Georgia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Opening the Black Box</dc:title>
  <dc:subject>PptxGenJS Presentation</dc:subject>
  <dc:creator>Aabid Karim</dc:creator>
  <cp:lastModifiedBy>Aabid Karim</cp:lastModifiedBy>
  <cp:revision>5</cp:revision>
  <dcterms:created xsi:type="dcterms:W3CDTF">2026-05-12T13:54:49Z</dcterms:created>
  <dcterms:modified xsi:type="dcterms:W3CDTF">2026-05-13T13:16:23Z</dcterms:modified>
</cp:coreProperties>
</file>