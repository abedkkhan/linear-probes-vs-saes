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03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CC78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  FIGURES · DISCUSSION DECK  ]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256032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Results, Figure by Figure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66928" y="36576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Linear Probes vs Sparse Autoencoders  ·  Gemma 2 2B  ·  SST-2 sentiment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slide: what the figure shows, in plain terms — and the question to expect.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3520440"/>
            <a:ext cx="822960" cy="27432"/>
          </a:xfrm>
          <a:prstGeom prst="rect">
            <a:avLst/>
          </a:prstGeom>
          <a:solidFill>
            <a:srgbClr val="CC785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309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B5B5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Aabid Karim · ID 30468176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C78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  LINEAR PROBE  ·  01  ]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probe separates positive from negative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675120" cy="46177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7"/>
            </a:solidFill>
            <a:prstDash val="solid"/>
          </a:ln>
        </p:spPr>
      </p:sp>
      <p:pic>
        <p:nvPicPr>
          <p:cNvPr id="5" name="Image 0" descr="../results/plots/score_distribution_tes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600200"/>
            <a:ext cx="6492240" cy="4434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35240" y="1508760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C78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WHAT THIS SHOWS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635240" y="1828800"/>
            <a:ext cx="40992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sentence gets one score from the probe.</a:t>
            </a:r>
            <a:endParaRPr lang="en-US" sz="1300" dirty="0"/>
          </a:p>
          <a:p>
            <a:pPr algn="l" marL="177800" indent="-1778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Negative sentences (red) score low; positive (blue) score high.</a:t>
            </a:r>
            <a:endParaRPr lang="en-US" sz="1300" dirty="0"/>
          </a:p>
          <a:p>
            <a:pPr algn="l" marL="177800" indent="-1778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two groups barely overlap — clean separation.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635240" y="4389120"/>
            <a:ext cx="4099255" cy="1737360"/>
          </a:xfrm>
          <a:prstGeom prst="rect">
            <a:avLst/>
          </a:prstGeom>
          <a:solidFill>
            <a:srgbClr val="F3E9E3"/>
          </a:solidFill>
          <a:ln/>
        </p:spPr>
      </p:sp>
      <p:sp>
        <p:nvSpPr>
          <p:cNvPr id="9" name="Shape 6"/>
          <p:cNvSpPr/>
          <p:nvPr/>
        </p:nvSpPr>
        <p:spPr>
          <a:xfrm>
            <a:off x="7635240" y="4389120"/>
            <a:ext cx="64008" cy="1737360"/>
          </a:xfrm>
          <a:prstGeom prst="rect">
            <a:avLst/>
          </a:prstGeom>
          <a:solidFill>
            <a:srgbClr val="CC785C"/>
          </a:solidFill>
          <a:ln/>
        </p:spPr>
      </p:sp>
      <p:sp>
        <p:nvSpPr>
          <p:cNvPr id="10" name="Text 7"/>
          <p:cNvSpPr/>
          <p:nvPr/>
        </p:nvSpPr>
        <p:spPr>
          <a:xfrm>
            <a:off x="7836408" y="4517136"/>
            <a:ext cx="37334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C78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IF ASKED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836408" y="4800600"/>
            <a:ext cx="368777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CC78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  </a:t>
            </a:r>
            <a:pPr algn="l" indent="0" marL="0">
              <a:lnSpc>
                <a:spcPct val="118000"/>
              </a:lnSpc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 “probe score”?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
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 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number the probe gives each sentence. Below the dashed line = predicted negative; above = positive. The gap between the two colours is what makes it accurate.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9C948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Aabid Karim · ID 30468176 · Figures Discussion Deck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C78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  LINEAR PROBE  ·  02  ]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92% correct on unseen sentences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675120" cy="46177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7"/>
            </a:solidFill>
            <a:prstDash val="solid"/>
          </a:ln>
        </p:spPr>
      </p:sp>
      <p:pic>
        <p:nvPicPr>
          <p:cNvPr id="5" name="Image 0" descr="../results/plots/confusion_tes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600200"/>
            <a:ext cx="6492240" cy="4434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35240" y="1508760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C78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WHAT THIS SHOWS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635240" y="1828800"/>
            <a:ext cx="40992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500 test sentences the probe never saw in training.</a:t>
            </a:r>
            <a:endParaRPr lang="en-US" sz="1300" dirty="0"/>
          </a:p>
          <a:p>
            <a:pPr algn="l" marL="177800" indent="-1778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Only 40 mistakes total (27 + 13).</a:t>
            </a:r>
            <a:endParaRPr lang="en-US" sz="1300" dirty="0"/>
          </a:p>
          <a:p>
            <a:pPr algn="l" marL="177800" indent="-1778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197 negatives and 263 positives correctly identified.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635240" y="4389120"/>
            <a:ext cx="4099255" cy="1737360"/>
          </a:xfrm>
          <a:prstGeom prst="rect">
            <a:avLst/>
          </a:prstGeom>
          <a:solidFill>
            <a:srgbClr val="F3E9E3"/>
          </a:solidFill>
          <a:ln/>
        </p:spPr>
      </p:sp>
      <p:sp>
        <p:nvSpPr>
          <p:cNvPr id="9" name="Shape 6"/>
          <p:cNvSpPr/>
          <p:nvPr/>
        </p:nvSpPr>
        <p:spPr>
          <a:xfrm>
            <a:off x="7635240" y="4389120"/>
            <a:ext cx="64008" cy="1737360"/>
          </a:xfrm>
          <a:prstGeom prst="rect">
            <a:avLst/>
          </a:prstGeom>
          <a:solidFill>
            <a:srgbClr val="CC785C"/>
          </a:solidFill>
          <a:ln/>
        </p:spPr>
      </p:sp>
      <p:sp>
        <p:nvSpPr>
          <p:cNvPr id="10" name="Text 7"/>
          <p:cNvSpPr/>
          <p:nvPr/>
        </p:nvSpPr>
        <p:spPr>
          <a:xfrm>
            <a:off x="7836408" y="4517136"/>
            <a:ext cx="37334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C78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IF ASKED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836408" y="4800600"/>
            <a:ext cx="368777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CC78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  </a:t>
            </a:r>
            <a:pPr algn="l" indent="0" marL="0">
              <a:lnSpc>
                <a:spcPct val="118000"/>
              </a:lnSpc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92% good?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
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 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Yes. Our success target was 75%, and 92% is competitive with published results on this dataset. Random guessing would be 50%.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9C948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Aabid Karim · ID 30468176 · Figures Discussion Deck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C78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  LINEAR PROBE  ·  03  ]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Near-perfect ranking (ROC curve)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675120" cy="46177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7"/>
            </a:solidFill>
            <a:prstDash val="solid"/>
          </a:ln>
        </p:spPr>
      </p:sp>
      <p:pic>
        <p:nvPicPr>
          <p:cNvPr id="5" name="Image 0" descr="../results/plots/roc_curve_tes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600200"/>
            <a:ext cx="6492240" cy="4434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35240" y="1508760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C78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WHAT THIS SHOWS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635240" y="1828800"/>
            <a:ext cx="40992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curve hugging the top-left corner means very few errors.</a:t>
            </a:r>
            <a:endParaRPr lang="en-US" sz="1300" dirty="0"/>
          </a:p>
          <a:p>
            <a:pPr algn="l" marL="177800" indent="-1778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AUC = 0.97 (1.0 would be perfect, 0.5 is random).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635240" y="4389120"/>
            <a:ext cx="4099255" cy="1737360"/>
          </a:xfrm>
          <a:prstGeom prst="rect">
            <a:avLst/>
          </a:prstGeom>
          <a:solidFill>
            <a:srgbClr val="F3E9E3"/>
          </a:solidFill>
          <a:ln/>
        </p:spPr>
      </p:sp>
      <p:sp>
        <p:nvSpPr>
          <p:cNvPr id="9" name="Shape 6"/>
          <p:cNvSpPr/>
          <p:nvPr/>
        </p:nvSpPr>
        <p:spPr>
          <a:xfrm>
            <a:off x="7635240" y="4389120"/>
            <a:ext cx="64008" cy="1737360"/>
          </a:xfrm>
          <a:prstGeom prst="rect">
            <a:avLst/>
          </a:prstGeom>
          <a:solidFill>
            <a:srgbClr val="CC785C"/>
          </a:solidFill>
          <a:ln/>
        </p:spPr>
      </p:sp>
      <p:sp>
        <p:nvSpPr>
          <p:cNvPr id="10" name="Text 7"/>
          <p:cNvSpPr/>
          <p:nvPr/>
        </p:nvSpPr>
        <p:spPr>
          <a:xfrm>
            <a:off x="7836408" y="4517136"/>
            <a:ext cx="37334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C78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IF ASKED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836408" y="4800600"/>
            <a:ext cx="368777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CC78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  </a:t>
            </a:r>
            <a:pPr algn="l" indent="0" marL="0">
              <a:lnSpc>
                <a:spcPct val="118000"/>
              </a:lnSpc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AUC?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
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 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you pick one positive and one negative sentence at random, AUC is the chance the probe scores the positive one higher. 0.97 means it gets the order right 97% of the time.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9C948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Aabid Karim · ID 30468176 · Figures Discussion Deck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C78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  LAYER CHOICE  ·  04  ]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layer 12? We tested all 26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675120" cy="46177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7"/>
            </a:solidFill>
            <a:prstDash val="solid"/>
          </a:ln>
        </p:spPr>
      </p:sp>
      <p:pic>
        <p:nvPicPr>
          <p:cNvPr id="5" name="Image 0" descr="../results/plots/layer_sweep_accurac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600200"/>
            <a:ext cx="6492240" cy="4434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35240" y="1508760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C78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WHAT THIS SHOWS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635240" y="1828800"/>
            <a:ext cx="40992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trained a probe at every one of Gemma’s 26 layers.</a:t>
            </a:r>
            <a:endParaRPr lang="en-US" sz="1300" dirty="0"/>
          </a:p>
          <a:p>
            <a:pPr algn="l" marL="177800" indent="-1778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Accuracy peaks in the middle layers (10–13).</a:t>
            </a:r>
            <a:endParaRPr lang="en-US" sz="1300" dirty="0"/>
          </a:p>
          <a:p>
            <a:pPr algn="l" marL="177800" indent="-1778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 12 gives the best test accuracy of all.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635240" y="4389120"/>
            <a:ext cx="4099255" cy="1737360"/>
          </a:xfrm>
          <a:prstGeom prst="rect">
            <a:avLst/>
          </a:prstGeom>
          <a:solidFill>
            <a:srgbClr val="F3E9E3"/>
          </a:solidFill>
          <a:ln/>
        </p:spPr>
      </p:sp>
      <p:sp>
        <p:nvSpPr>
          <p:cNvPr id="9" name="Shape 6"/>
          <p:cNvSpPr/>
          <p:nvPr/>
        </p:nvSpPr>
        <p:spPr>
          <a:xfrm>
            <a:off x="7635240" y="4389120"/>
            <a:ext cx="64008" cy="1737360"/>
          </a:xfrm>
          <a:prstGeom prst="rect">
            <a:avLst/>
          </a:prstGeom>
          <a:solidFill>
            <a:srgbClr val="CC785C"/>
          </a:solidFill>
          <a:ln/>
        </p:spPr>
      </p:sp>
      <p:sp>
        <p:nvSpPr>
          <p:cNvPr id="10" name="Text 7"/>
          <p:cNvSpPr/>
          <p:nvPr/>
        </p:nvSpPr>
        <p:spPr>
          <a:xfrm>
            <a:off x="7836408" y="4517136"/>
            <a:ext cx="37334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C78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IF ASKED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836408" y="4800600"/>
            <a:ext cx="368777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CC78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  </a:t>
            </a:r>
            <a:pPr algn="l" indent="0" marL="0">
              <a:lnSpc>
                <a:spcPct val="118000"/>
              </a:lnSpc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did you pick layer 12 specifically?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
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 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arbitrarily — the data shows the middle is best. Early layers handle raw words; late layers focus on predicting the next word. Sentiment lives cleanest in the middle, and layer 12 is the peak.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9C948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Aabid Karim · ID 30468176 · Figures Discussion Deck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C78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  SAE DISCOVERY  ·  05  ]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Searching 16,384 features for sentiment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675120" cy="46177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7"/>
            </a:solidFill>
            <a:prstDash val="solid"/>
          </a:ln>
        </p:spPr>
      </p:sp>
      <p:pic>
        <p:nvPicPr>
          <p:cNvPr id="5" name="Image 0" descr="../results/plots/all_feature_correlations_his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600200"/>
            <a:ext cx="6492240" cy="4434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35240" y="1508760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C78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WHAT THIS SHOWS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635240" y="1828800"/>
            <a:ext cx="40992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SAE breaks each activation into 16,384 features.</a:t>
            </a:r>
            <a:endParaRPr lang="en-US" sz="1300" dirty="0"/>
          </a:p>
          <a:p>
            <a:pPr algn="l" marL="177800" indent="-1778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features have nothing to do with sentiment (pile near zero).</a:t>
            </a:r>
            <a:endParaRPr lang="en-US" sz="1300" dirty="0"/>
          </a:p>
          <a:p>
            <a:pPr algn="l" marL="177800" indent="-1778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few stand out — feature 14733 is the strongest (red line).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635240" y="4389120"/>
            <a:ext cx="4099255" cy="1737360"/>
          </a:xfrm>
          <a:prstGeom prst="rect">
            <a:avLst/>
          </a:prstGeom>
          <a:solidFill>
            <a:srgbClr val="F3E9E3"/>
          </a:solidFill>
          <a:ln/>
        </p:spPr>
      </p:sp>
      <p:sp>
        <p:nvSpPr>
          <p:cNvPr id="9" name="Shape 6"/>
          <p:cNvSpPr/>
          <p:nvPr/>
        </p:nvSpPr>
        <p:spPr>
          <a:xfrm>
            <a:off x="7635240" y="4389120"/>
            <a:ext cx="64008" cy="1737360"/>
          </a:xfrm>
          <a:prstGeom prst="rect">
            <a:avLst/>
          </a:prstGeom>
          <a:solidFill>
            <a:srgbClr val="CC785C"/>
          </a:solidFill>
          <a:ln/>
        </p:spPr>
      </p:sp>
      <p:sp>
        <p:nvSpPr>
          <p:cNvPr id="10" name="Text 7"/>
          <p:cNvSpPr/>
          <p:nvPr/>
        </p:nvSpPr>
        <p:spPr>
          <a:xfrm>
            <a:off x="7836408" y="4517136"/>
            <a:ext cx="37334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C78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IF ASKED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836408" y="4800600"/>
            <a:ext cx="368777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CC78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  </a:t>
            </a:r>
            <a:pPr algn="l" indent="0" marL="0">
              <a:lnSpc>
                <a:spcPct val="118000"/>
              </a:lnSpc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did you find the sentiment feature?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
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 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measured how strongly each of the 16,384 features lines up with the positive/negative labels, then picked the single strongest one. No labels were used to build the SAE itself.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9C948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Aabid Karim · ID 30468176 · Figures Discussion Deck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C78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  SAE DISCOVERY  ·  06  ]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top sentiment features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675120" cy="46177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7"/>
            </a:solidFill>
            <a:prstDash val="solid"/>
          </a:ln>
        </p:spPr>
      </p:sp>
      <p:pic>
        <p:nvPicPr>
          <p:cNvPr id="5" name="Image 0" descr="../results/plots/sae_feature_correlation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600200"/>
            <a:ext cx="6492240" cy="4434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35240" y="1508760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C78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WHAT THIS SHOWS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635240" y="1828800"/>
            <a:ext cx="40992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20 features ranked by how well they track sentiment.</a:t>
            </a:r>
            <a:endParaRPr lang="en-US" sz="1300" dirty="0"/>
          </a:p>
          <a:p>
            <a:pPr algn="l" marL="177800" indent="-1778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 bars fire on negative sentences, green on positive.</a:t>
            </a:r>
            <a:endParaRPr lang="en-US" sz="1300" dirty="0"/>
          </a:p>
          <a:p>
            <a:pPr algn="l" marL="177800" indent="-1778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14733 leads the ranking.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635240" y="4389120"/>
            <a:ext cx="4099255" cy="1737360"/>
          </a:xfrm>
          <a:prstGeom prst="rect">
            <a:avLst/>
          </a:prstGeom>
          <a:solidFill>
            <a:srgbClr val="F3E9E3"/>
          </a:solidFill>
          <a:ln/>
        </p:spPr>
      </p:sp>
      <p:sp>
        <p:nvSpPr>
          <p:cNvPr id="9" name="Shape 6"/>
          <p:cNvSpPr/>
          <p:nvPr/>
        </p:nvSpPr>
        <p:spPr>
          <a:xfrm>
            <a:off x="7635240" y="4389120"/>
            <a:ext cx="64008" cy="1737360"/>
          </a:xfrm>
          <a:prstGeom prst="rect">
            <a:avLst/>
          </a:prstGeom>
          <a:solidFill>
            <a:srgbClr val="CC785C"/>
          </a:solidFill>
          <a:ln/>
        </p:spPr>
      </p:sp>
      <p:sp>
        <p:nvSpPr>
          <p:cNvPr id="10" name="Text 7"/>
          <p:cNvSpPr/>
          <p:nvPr/>
        </p:nvSpPr>
        <p:spPr>
          <a:xfrm>
            <a:off x="7836408" y="4517136"/>
            <a:ext cx="37334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C78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IF ASKED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836408" y="4800600"/>
            <a:ext cx="368777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CC78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  </a:t>
            </a:r>
            <a:pPr algn="l" indent="0" marL="0">
              <a:lnSpc>
                <a:spcPct val="118000"/>
              </a:lnSpc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are most of them ‘negative’ features?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
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 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Negative sentiment in reviews tends to use sharper, more distinctive language, so the SAE gives it cleaner dedicated features. Positive sentiment is spread more thinly.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9C948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Aabid Karim · ID 30468176 · Figures Discussion Deck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C78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  SAE DISCOVERY  ·  07  ]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14733 fires on negative sentences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675120" cy="46177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7"/>
            </a:solidFill>
            <a:prstDash val="solid"/>
          </a:ln>
        </p:spPr>
      </p:sp>
      <p:pic>
        <p:nvPicPr>
          <p:cNvPr id="5" name="Image 0" descr="../results/plots/feature_14733_distribu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600200"/>
            <a:ext cx="6492240" cy="4434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35240" y="1508760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C78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WHAT THIS SHOWS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635240" y="1828800"/>
            <a:ext cx="40992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strongly the feature fires across test sentences.</a:t>
            </a:r>
            <a:endParaRPr lang="en-US" sz="1300" dirty="0"/>
          </a:p>
          <a:p>
            <a:pPr algn="l" marL="177800" indent="-1778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Negative sentences (red) push it high; positive (blue) stay near zero.</a:t>
            </a:r>
            <a:endParaRPr lang="en-US" sz="1300" dirty="0"/>
          </a:p>
          <a:p>
            <a:pPr algn="l" marL="177800" indent="-1778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dashed line is the cutoff we use to classify.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635240" y="4389120"/>
            <a:ext cx="4099255" cy="1737360"/>
          </a:xfrm>
          <a:prstGeom prst="rect">
            <a:avLst/>
          </a:prstGeom>
          <a:solidFill>
            <a:srgbClr val="F3E9E3"/>
          </a:solidFill>
          <a:ln/>
        </p:spPr>
      </p:sp>
      <p:sp>
        <p:nvSpPr>
          <p:cNvPr id="9" name="Shape 6"/>
          <p:cNvSpPr/>
          <p:nvPr/>
        </p:nvSpPr>
        <p:spPr>
          <a:xfrm>
            <a:off x="7635240" y="4389120"/>
            <a:ext cx="64008" cy="1737360"/>
          </a:xfrm>
          <a:prstGeom prst="rect">
            <a:avLst/>
          </a:prstGeom>
          <a:solidFill>
            <a:srgbClr val="CC785C"/>
          </a:solidFill>
          <a:ln/>
        </p:spPr>
      </p:sp>
      <p:sp>
        <p:nvSpPr>
          <p:cNvPr id="10" name="Text 7"/>
          <p:cNvSpPr/>
          <p:nvPr/>
        </p:nvSpPr>
        <p:spPr>
          <a:xfrm>
            <a:off x="7836408" y="4517136"/>
            <a:ext cx="37334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C78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IF ASKED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836408" y="4800600"/>
            <a:ext cx="368777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CC78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  </a:t>
            </a:r>
            <a:pPr algn="l" indent="0" marL="0">
              <a:lnSpc>
                <a:spcPct val="118000"/>
              </a:lnSpc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did the cutoff come from?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
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 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the validation set, not the test set — we chose the line that best separated the classes on data held aside, then applied it untouched to the test set.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9C948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Aabid Karim · ID 30468176 · Figures Discussion Deck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C78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  SAE INTERPRETABILITY  ·  08  ]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feature actually responds to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675120" cy="46177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7"/>
            </a:solidFill>
            <a:prstDash val="solid"/>
          </a:ln>
        </p:spPr>
      </p:sp>
      <p:pic>
        <p:nvPicPr>
          <p:cNvPr id="5" name="Image 0" descr="../results/plots/feature_14733_top_sentenc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600200"/>
            <a:ext cx="6492240" cy="4434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35240" y="1508760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C78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WHAT THIS SHOWS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635240" y="1828800"/>
            <a:ext cx="40992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training sentences that make feature 14733 fire hardest.</a:t>
            </a:r>
            <a:endParaRPr lang="en-US" sz="1300" dirty="0"/>
          </a:p>
          <a:p>
            <a:pPr algn="l" marL="177800" indent="-1778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Almost all are clearly negative movie reviews.</a:t>
            </a:r>
            <a:endParaRPr lang="en-US" sz="1300" dirty="0"/>
          </a:p>
          <a:p>
            <a:pPr algn="l" marL="177800" indent="-1778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Evidence the feature is genuinely about negativity — not noise.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635240" y="4389120"/>
            <a:ext cx="4099255" cy="1737360"/>
          </a:xfrm>
          <a:prstGeom prst="rect">
            <a:avLst/>
          </a:prstGeom>
          <a:solidFill>
            <a:srgbClr val="F3E9E3"/>
          </a:solidFill>
          <a:ln/>
        </p:spPr>
      </p:sp>
      <p:sp>
        <p:nvSpPr>
          <p:cNvPr id="9" name="Shape 6"/>
          <p:cNvSpPr/>
          <p:nvPr/>
        </p:nvSpPr>
        <p:spPr>
          <a:xfrm>
            <a:off x="7635240" y="4389120"/>
            <a:ext cx="64008" cy="1737360"/>
          </a:xfrm>
          <a:prstGeom prst="rect">
            <a:avLst/>
          </a:prstGeom>
          <a:solidFill>
            <a:srgbClr val="CC785C"/>
          </a:solidFill>
          <a:ln/>
        </p:spPr>
      </p:sp>
      <p:sp>
        <p:nvSpPr>
          <p:cNvPr id="10" name="Text 7"/>
          <p:cNvSpPr/>
          <p:nvPr/>
        </p:nvSpPr>
        <p:spPr>
          <a:xfrm>
            <a:off x="7836408" y="4517136"/>
            <a:ext cx="37334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C78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IF ASKED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836408" y="4800600"/>
            <a:ext cx="368777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CC78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  </a:t>
            </a:r>
            <a:pPr algn="l" indent="0" marL="0">
              <a:lnSpc>
                <a:spcPct val="118000"/>
              </a:lnSpc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of them are labelled positive — isn’t that a problem?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
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 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Those two are hedged (“its occasional charms”) — faint praise that reads half-negative. The feature tracks negativity strongly but not perfectly, which is expected and honest.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9C948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Aabid Karim · ID 30468176 · Figures Discussion Deck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C78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  SAE CLASSIFIER  ·  09  ]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More features → higher accuracy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675120" cy="46177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7"/>
            </a:solidFill>
            <a:prstDash val="solid"/>
          </a:ln>
        </p:spPr>
      </p:sp>
      <p:pic>
        <p:nvPicPr>
          <p:cNvPr id="5" name="Image 0" descr="../results/plots/sae_topk_onl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600200"/>
            <a:ext cx="6492240" cy="4434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35240" y="1508760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C78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WHAT THIS SHOWS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635240" y="1828800"/>
            <a:ext cx="40992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Using just feature 14733: 77% accuracy.</a:t>
            </a:r>
            <a:endParaRPr lang="en-US" sz="1300" dirty="0"/>
          </a:p>
          <a:p>
            <a:pPr algn="l" marL="177800" indent="-1778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Using the top 5: 85%. Top 100: ~90%.</a:t>
            </a:r>
            <a:endParaRPr lang="en-US" sz="1300" dirty="0"/>
          </a:p>
          <a:p>
            <a:pPr algn="l" marL="177800" indent="-1778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Sentiment is spread across a handful of features, not one.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635240" y="4389120"/>
            <a:ext cx="4099255" cy="1737360"/>
          </a:xfrm>
          <a:prstGeom prst="rect">
            <a:avLst/>
          </a:prstGeom>
          <a:solidFill>
            <a:srgbClr val="F3E9E3"/>
          </a:solidFill>
          <a:ln/>
        </p:spPr>
      </p:sp>
      <p:sp>
        <p:nvSpPr>
          <p:cNvPr id="9" name="Shape 6"/>
          <p:cNvSpPr/>
          <p:nvPr/>
        </p:nvSpPr>
        <p:spPr>
          <a:xfrm>
            <a:off x="7635240" y="4389120"/>
            <a:ext cx="64008" cy="1737360"/>
          </a:xfrm>
          <a:prstGeom prst="rect">
            <a:avLst/>
          </a:prstGeom>
          <a:solidFill>
            <a:srgbClr val="CC785C"/>
          </a:solidFill>
          <a:ln/>
        </p:spPr>
      </p:sp>
      <p:sp>
        <p:nvSpPr>
          <p:cNvPr id="10" name="Text 7"/>
          <p:cNvSpPr/>
          <p:nvPr/>
        </p:nvSpPr>
        <p:spPr>
          <a:xfrm>
            <a:off x="7836408" y="4517136"/>
            <a:ext cx="37334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C78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IF ASKED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836408" y="4800600"/>
            <a:ext cx="368777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CC78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  </a:t>
            </a:r>
            <a:pPr algn="l" indent="0" marL="0">
              <a:lnSpc>
                <a:spcPct val="118000"/>
              </a:lnSpc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not just use the single best feature?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
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 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Because sentiment isn’t one single thing — intensity, negation, specific words all contribute. Each is a separate SAE feature, so combining a few gives a big jump.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9C948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Aabid Karim · ID 30468176 · Figures Discussion Deck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C78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  COMPARISON  ·  10  ]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Probe vs SAE — head to head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675120" cy="46177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7"/>
            </a:solidFill>
            <a:prstDash val="solid"/>
          </a:ln>
        </p:spPr>
      </p:sp>
      <p:pic>
        <p:nvPicPr>
          <p:cNvPr id="5" name="Image 0" descr="../results/plots/accuracy_comparison_ba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600200"/>
            <a:ext cx="6492240" cy="4434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35240" y="1508760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C78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WHAT THIS SHOWS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635240" y="1828800"/>
            <a:ext cx="40992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Linear probe: 92%. Best SAE (top-100): ~90%.</a:t>
            </a:r>
            <a:endParaRPr lang="en-US" sz="1300" dirty="0"/>
          </a:p>
          <a:p>
            <a:pPr algn="l" marL="177800" indent="-1778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Single SAE feature: 77%. Random guessing: 50%.</a:t>
            </a:r>
            <a:endParaRPr lang="en-US" sz="1300" dirty="0"/>
          </a:p>
          <a:p>
            <a:pPr algn="l" marL="177800" indent="-1778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probe wins on accuracy by a small margin.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635240" y="4389120"/>
            <a:ext cx="4099255" cy="1737360"/>
          </a:xfrm>
          <a:prstGeom prst="rect">
            <a:avLst/>
          </a:prstGeom>
          <a:solidFill>
            <a:srgbClr val="F3E9E3"/>
          </a:solidFill>
          <a:ln/>
        </p:spPr>
      </p:sp>
      <p:sp>
        <p:nvSpPr>
          <p:cNvPr id="9" name="Shape 6"/>
          <p:cNvSpPr/>
          <p:nvPr/>
        </p:nvSpPr>
        <p:spPr>
          <a:xfrm>
            <a:off x="7635240" y="4389120"/>
            <a:ext cx="64008" cy="1737360"/>
          </a:xfrm>
          <a:prstGeom prst="rect">
            <a:avLst/>
          </a:prstGeom>
          <a:solidFill>
            <a:srgbClr val="CC785C"/>
          </a:solidFill>
          <a:ln/>
        </p:spPr>
      </p:sp>
      <p:sp>
        <p:nvSpPr>
          <p:cNvPr id="10" name="Text 7"/>
          <p:cNvSpPr/>
          <p:nvPr/>
        </p:nvSpPr>
        <p:spPr>
          <a:xfrm>
            <a:off x="7836408" y="4517136"/>
            <a:ext cx="37334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C78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IF ASKED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836408" y="4800600"/>
            <a:ext cx="368777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CC78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  </a:t>
            </a:r>
            <a:pPr algn="l" indent="0" marL="0">
              <a:lnSpc>
                <a:spcPct val="118000"/>
              </a:lnSpc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 the SAE lost?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
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 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raw accuracy, yes — by about 2 points. But the SAE was never given labels, and it gives interpretable features you can read and inspect. It’s a trade-off, not a defeat.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9C948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Aabid Karim · ID 30468176 · Figures Discussion Deck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C78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  COMPARISON  ·  11  ]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both methods point the same way?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675120" cy="46177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7"/>
            </a:solidFill>
            <a:prstDash val="solid"/>
          </a:ln>
        </p:spPr>
      </p:sp>
      <p:pic>
        <p:nvPicPr>
          <p:cNvPr id="5" name="Image 0" descr="../results/plots/sae_all_cosines_his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600200"/>
            <a:ext cx="6492240" cy="4434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35240" y="1508760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C78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WHAT THIS SHOWS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635240" y="1828800"/>
            <a:ext cx="40992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aligned each SAE feature is with the probe’s direction.</a:t>
            </a:r>
            <a:endParaRPr lang="en-US" sz="1300" dirty="0"/>
          </a:p>
          <a:p>
            <a:pPr algn="l" marL="177800" indent="-1778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Almost all features are unrelated (pile near zero).</a:t>
            </a:r>
            <a:endParaRPr lang="en-US" sz="1300" dirty="0"/>
          </a:p>
          <a:p>
            <a:pPr algn="l" marL="177800" indent="-1778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14733 (red line) sits far out in the tail.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635240" y="4389120"/>
            <a:ext cx="4099255" cy="1737360"/>
          </a:xfrm>
          <a:prstGeom prst="rect">
            <a:avLst/>
          </a:prstGeom>
          <a:solidFill>
            <a:srgbClr val="F3E9E3"/>
          </a:solidFill>
          <a:ln/>
        </p:spPr>
      </p:sp>
      <p:sp>
        <p:nvSpPr>
          <p:cNvPr id="9" name="Shape 6"/>
          <p:cNvSpPr/>
          <p:nvPr/>
        </p:nvSpPr>
        <p:spPr>
          <a:xfrm>
            <a:off x="7635240" y="4389120"/>
            <a:ext cx="64008" cy="1737360"/>
          </a:xfrm>
          <a:prstGeom prst="rect">
            <a:avLst/>
          </a:prstGeom>
          <a:solidFill>
            <a:srgbClr val="CC785C"/>
          </a:solidFill>
          <a:ln/>
        </p:spPr>
      </p:sp>
      <p:sp>
        <p:nvSpPr>
          <p:cNvPr id="10" name="Text 7"/>
          <p:cNvSpPr/>
          <p:nvPr/>
        </p:nvSpPr>
        <p:spPr>
          <a:xfrm>
            <a:off x="7836408" y="4517136"/>
            <a:ext cx="37334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C78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IF ASKED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836408" y="4800600"/>
            <a:ext cx="368777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CC78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  </a:t>
            </a:r>
            <a:pPr algn="l" indent="0" marL="0">
              <a:lnSpc>
                <a:spcPct val="118000"/>
              </a:lnSpc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−0.22 really ‘aligned’? It sounds small.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
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 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2,304 dimensions, random alignment is essentially zero. −0.22 is over 10 standard deviations above chance — statistically, an extremely strong signal, even if the number looks modest.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9C948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Aabid Karim · ID 30468176 · Figures Discussion Deck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C78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  COMPARISON  ·  12  ]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much of the probe lives in SAE features?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675120" cy="46177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7"/>
            </a:solidFill>
            <a:prstDash val="solid"/>
          </a:ln>
        </p:spPr>
      </p:sp>
      <p:pic>
        <p:nvPicPr>
          <p:cNvPr id="5" name="Image 0" descr="../results/plots/direction_subspace_projec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600200"/>
            <a:ext cx="6492240" cy="4434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35240" y="1508760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C78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WHAT THIS SHOWS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635240" y="1828800"/>
            <a:ext cx="40992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much of the probe’s direction the top SAE features recreate.</a:t>
            </a:r>
            <a:endParaRPr lang="en-US" sz="1300" dirty="0"/>
          </a:p>
          <a:p>
            <a:pPr algn="l" marL="177800" indent="-1778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100 features capture ~half of it (blue), vs ~20% for random (grey).</a:t>
            </a:r>
            <a:endParaRPr lang="en-US" sz="1300" dirty="0"/>
          </a:p>
          <a:p>
            <a:pPr algn="l" marL="177800" indent="-1778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overlap — but no small set fully reproduces the probe.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635240" y="4389120"/>
            <a:ext cx="4099255" cy="1737360"/>
          </a:xfrm>
          <a:prstGeom prst="rect">
            <a:avLst/>
          </a:prstGeom>
          <a:solidFill>
            <a:srgbClr val="F3E9E3"/>
          </a:solidFill>
          <a:ln/>
        </p:spPr>
      </p:sp>
      <p:sp>
        <p:nvSpPr>
          <p:cNvPr id="9" name="Shape 6"/>
          <p:cNvSpPr/>
          <p:nvPr/>
        </p:nvSpPr>
        <p:spPr>
          <a:xfrm>
            <a:off x="7635240" y="4389120"/>
            <a:ext cx="64008" cy="1737360"/>
          </a:xfrm>
          <a:prstGeom prst="rect">
            <a:avLst/>
          </a:prstGeom>
          <a:solidFill>
            <a:srgbClr val="CC785C"/>
          </a:solidFill>
          <a:ln/>
        </p:spPr>
      </p:sp>
      <p:sp>
        <p:nvSpPr>
          <p:cNvPr id="10" name="Text 7"/>
          <p:cNvSpPr/>
          <p:nvPr/>
        </p:nvSpPr>
        <p:spPr>
          <a:xfrm>
            <a:off x="7836408" y="4517136"/>
            <a:ext cx="37334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C78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IF ASKED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836408" y="4800600"/>
            <a:ext cx="368777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CC78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  </a:t>
            </a:r>
            <a:pPr algn="l" indent="0" marL="0">
              <a:lnSpc>
                <a:spcPct val="118000"/>
              </a:lnSpc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the two methods find the same thing or not?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
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 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Both — they clearly point the same way (far above chance), but the SAE spreads sentiment across many features, so no handful exactly equals the probe’s single direction. Same concept, described differently.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9C948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Aabid Karim · ID 30468176 · Figures Discussion Deck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Figures Discussion Deck</dc:title>
  <dc:subject>PptxGenJS Presentation</dc:subject>
  <dc:creator>Aabid Karim</dc:creator>
  <cp:lastModifiedBy>Aabid Karim</cp:lastModifiedBy>
  <cp:revision>1</cp:revision>
  <dcterms:created xsi:type="dcterms:W3CDTF">2026-05-28T10:54:03Z</dcterms:created>
  <dcterms:modified xsi:type="dcterms:W3CDTF">2026-05-28T10:54:03Z</dcterms:modified>
</cp:coreProperties>
</file>